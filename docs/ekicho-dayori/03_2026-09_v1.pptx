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B0F0"/>
    <a:srgbClr val="A5A5A5"/>
    <a:srgbClr val="042041"/>
    <a:srgbClr val="FFFFFF"/>
    <a:srgbClr val="EEEBF0"/>
    <a:srgbClr val="06264B"/>
    <a:srgbClr val="001432"/>
    <a:srgbClr val="000B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6" d="100"/>
          <a:sy n="56" d="100"/>
        </p:scale>
        <p:origin x="160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ushi takamura" userId="bda0184e7c70e3d7" providerId="LiveId" clId="{F0C0B72A-A5F6-4A8C-8E8C-102C092E9D8F}"/>
    <pc:docChg chg="modSld">
      <pc:chgData name="yasushi takamura" userId="bda0184e7c70e3d7" providerId="LiveId" clId="{F0C0B72A-A5F6-4A8C-8E8C-102C092E9D8F}" dt="2026-09-04T12:33:25.406" v="7" actId="20577"/>
      <pc:docMkLst>
        <pc:docMk/>
      </pc:docMkLst>
      <pc:sldChg chg="modSp mod">
        <pc:chgData name="yasushi takamura" userId="bda0184e7c70e3d7" providerId="LiveId" clId="{F0C0B72A-A5F6-4A8C-8E8C-102C092E9D8F}" dt="2026-09-04T12:33:25.406" v="7" actId="20577"/>
        <pc:sldMkLst>
          <pc:docMk/>
          <pc:sldMk cId="1882031827" sldId="260"/>
        </pc:sldMkLst>
        <pc:spChg chg="mod">
          <ac:chgData name="yasushi takamura" userId="bda0184e7c70e3d7" providerId="LiveId" clId="{F0C0B72A-A5F6-4A8C-8E8C-102C092E9D8F}" dt="2026-09-04T12:33:17.793" v="5" actId="20577"/>
          <ac:spMkLst>
            <pc:docMk/>
            <pc:sldMk cId="1882031827" sldId="260"/>
            <ac:spMk id="73" creationId="{88024E00-F722-35CB-E04F-062A35083FAF}"/>
          </ac:spMkLst>
        </pc:spChg>
        <pc:spChg chg="mod">
          <ac:chgData name="yasushi takamura" userId="bda0184e7c70e3d7" providerId="LiveId" clId="{F0C0B72A-A5F6-4A8C-8E8C-102C092E9D8F}" dt="2026-09-04T12:33:25.406" v="7" actId="20577"/>
          <ac:spMkLst>
            <pc:docMk/>
            <pc:sldMk cId="1882031827" sldId="260"/>
            <ac:spMk id="74" creationId="{A7E322F2-9B34-BD51-1EE6-143050C84F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667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569AB-F05B-2295-787F-D82D978F3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A9487-251E-8DB5-2BF4-B8CCAD19C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11FB8-D8D4-118B-2CF3-90B5B79C5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9F23B-DABD-A96B-69BE-C2A11C700E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69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9F83E-9BA6-E1D6-BD14-30F64AAA6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図 21" descr="A train travels through a starry night landscape with a moon and stars in th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FFBD4A85-C806-BEEC-C67D-9D2A7EEE1F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331" b="-3005"/>
          <a:stretch>
            <a:fillRect/>
          </a:stretch>
        </p:blipFill>
        <p:spPr>
          <a:xfrm>
            <a:off x="0" y="0"/>
            <a:ext cx="7562850" cy="2163372"/>
          </a:xfrm>
          <a:prstGeom prst="rect">
            <a:avLst/>
          </a:prstGeom>
        </p:spPr>
      </p:pic>
      <p:sp>
        <p:nvSpPr>
          <p:cNvPr id="6" name="Access Box">
            <a:extLst>
              <a:ext uri="{FF2B5EF4-FFF2-40B4-BE49-F238E27FC236}">
                <a16:creationId xmlns:a16="http://schemas.microsoft.com/office/drawing/2014/main" id="{4283E0BF-BDA2-4595-F6D7-D860473A5AE2}"/>
              </a:ext>
            </a:extLst>
          </p:cNvPr>
          <p:cNvSpPr/>
          <p:nvPr/>
        </p:nvSpPr>
        <p:spPr>
          <a:xfrm>
            <a:off x="309297" y="8597848"/>
            <a:ext cx="5021308" cy="1944000"/>
          </a:xfrm>
          <a:prstGeom prst="roundRect">
            <a:avLst>
              <a:gd name="adj" fmla="val 3637"/>
            </a:avLst>
          </a:prstGeom>
          <a:solidFill>
            <a:schemeClr val="bg1">
              <a:alpha val="10196"/>
            </a:schemeClr>
          </a:solidFill>
          <a:ln w="57150" cmpd="thickThin">
            <a:solidFill>
              <a:srgbClr val="FF0066"/>
            </a:solidFill>
          </a:ln>
        </p:spPr>
        <p:txBody>
          <a:bodyPr>
            <a:noAutofit/>
          </a:bodyPr>
          <a:lstStyle/>
          <a:p>
            <a:endParaRPr lang="ja-JP" dirty="0">
              <a:solidFill>
                <a:schemeClr val="accent5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Access Box">
            <a:extLst>
              <a:ext uri="{FF2B5EF4-FFF2-40B4-BE49-F238E27FC236}">
                <a16:creationId xmlns:a16="http://schemas.microsoft.com/office/drawing/2014/main" id="{B611938E-D74B-4878-FFFB-C82C32BB18E7}"/>
              </a:ext>
            </a:extLst>
          </p:cNvPr>
          <p:cNvSpPr/>
          <p:nvPr/>
        </p:nvSpPr>
        <p:spPr>
          <a:xfrm>
            <a:off x="309296" y="3062937"/>
            <a:ext cx="6944259" cy="3176597"/>
          </a:xfrm>
          <a:prstGeom prst="roundRect">
            <a:avLst>
              <a:gd name="adj" fmla="val 3637"/>
            </a:avLst>
          </a:prstGeom>
          <a:solidFill>
            <a:schemeClr val="tx2">
              <a:lumMod val="40000"/>
              <a:lumOff val="60000"/>
              <a:alpha val="20000"/>
            </a:schemeClr>
          </a:solidFill>
          <a:ln>
            <a:noFill/>
          </a:ln>
        </p:spPr>
        <p:txBody>
          <a:bodyPr>
            <a:noAutofit/>
          </a:bodyPr>
          <a:lstStyle/>
          <a:p>
            <a:endParaRPr lang="ja-JP" dirty="0">
              <a:solidFill>
                <a:schemeClr val="accent5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8" name="Text 75">
            <a:extLst>
              <a:ext uri="{FF2B5EF4-FFF2-40B4-BE49-F238E27FC236}">
                <a16:creationId xmlns:a16="http://schemas.microsoft.com/office/drawing/2014/main" id="{F301CED6-02D8-6ADA-C424-1FEB0B093C93}"/>
              </a:ext>
            </a:extLst>
          </p:cNvPr>
          <p:cNvSpPr/>
          <p:nvPr/>
        </p:nvSpPr>
        <p:spPr>
          <a:xfrm>
            <a:off x="663911" y="6996719"/>
            <a:ext cx="6795329" cy="3088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　</a:t>
            </a:r>
            <a:r>
              <a:rPr lang="en-US" sz="1400" b="1" dirty="0" err="1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マインドフルネス</a:t>
            </a:r>
            <a:r>
              <a:rPr lang="ja-JP" altLang="en-US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瞑想呼吸</a:t>
            </a:r>
            <a:r>
              <a:rPr lang="en-US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をリニューアル</a:t>
            </a:r>
            <a:r>
              <a:rPr lang="en-US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（</a:t>
            </a:r>
            <a:r>
              <a:rPr lang="en-US" altLang="ja-JP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4</a:t>
            </a:r>
            <a:r>
              <a:rPr lang="ja-JP" altLang="en-US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つの呼吸と説明</a:t>
            </a:r>
            <a:r>
              <a:rPr lang="en-US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、</a:t>
            </a:r>
            <a:r>
              <a:rPr lang="ja-JP" altLang="en-US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りんごの動きなど</a:t>
            </a:r>
            <a:r>
              <a:rPr lang="en-US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）</a:t>
            </a:r>
          </a:p>
        </p:txBody>
      </p:sp>
      <p:sp>
        <p:nvSpPr>
          <p:cNvPr id="79" name="Text 76">
            <a:extLst>
              <a:ext uri="{FF2B5EF4-FFF2-40B4-BE49-F238E27FC236}">
                <a16:creationId xmlns:a16="http://schemas.microsoft.com/office/drawing/2014/main" id="{4F0E6D69-3C93-032F-ADD4-910574935A5A}"/>
              </a:ext>
            </a:extLst>
          </p:cNvPr>
          <p:cNvSpPr/>
          <p:nvPr/>
        </p:nvSpPr>
        <p:spPr>
          <a:xfrm>
            <a:off x="457993" y="2587063"/>
            <a:ext cx="5943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ja-JP" sz="2400" b="1" spc="200" dirty="0">
                <a:solidFill>
                  <a:srgbClr val="E124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01. </a:t>
            </a:r>
            <a:r>
              <a:rPr lang="ja-JP" altLang="en-US" sz="2400" b="1" spc="200" dirty="0">
                <a:solidFill>
                  <a:srgbClr val="E124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今月の機能紹介</a:t>
            </a:r>
            <a:endParaRPr lang="en-US" sz="2400" b="1" spc="200" dirty="0">
              <a:latin typeface="Meiryo UI" panose="020B0604030504040204" pitchFamily="50" charset="-128"/>
              <a:ea typeface="Meiryo UI" panose="020B0604030504040204" pitchFamily="50" charset="-128"/>
              <a:cs typeface="Arimo Bold" panose="020B0600070205080204" charset="0"/>
            </a:endParaRPr>
          </a:p>
        </p:txBody>
      </p:sp>
      <p:sp>
        <p:nvSpPr>
          <p:cNvPr id="83" name="Text 80">
            <a:extLst>
              <a:ext uri="{FF2B5EF4-FFF2-40B4-BE49-F238E27FC236}">
                <a16:creationId xmlns:a16="http://schemas.microsoft.com/office/drawing/2014/main" id="{5DAB5701-BEC0-A468-90A0-4C732D14CB90}"/>
              </a:ext>
            </a:extLst>
          </p:cNvPr>
          <p:cNvSpPr/>
          <p:nvPr/>
        </p:nvSpPr>
        <p:spPr>
          <a:xfrm>
            <a:off x="457993" y="8143437"/>
            <a:ext cx="5943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ja-JP" sz="2400" b="1" spc="200" dirty="0">
                <a:solidFill>
                  <a:srgbClr val="E124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03. </a:t>
            </a:r>
            <a:r>
              <a:rPr lang="en-US" sz="2400" b="1" spc="200" dirty="0" err="1">
                <a:solidFill>
                  <a:srgbClr val="E124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駅長</a:t>
            </a:r>
            <a:r>
              <a:rPr lang="ja-JP" altLang="en-US" sz="2400" b="1" spc="200" dirty="0">
                <a:solidFill>
                  <a:srgbClr val="E124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の開発日誌</a:t>
            </a:r>
            <a:endParaRPr lang="en-US" sz="2400" spc="200" dirty="0">
              <a:latin typeface="Meiryo UI" panose="020B0604030504040204" pitchFamily="50" charset="-128"/>
              <a:ea typeface="Meiryo UI" panose="020B0604030504040204" pitchFamily="50" charset="-128"/>
              <a:cs typeface="Arimo Bold" panose="020B0600070205080204" charset="0"/>
            </a:endParaRPr>
          </a:p>
        </p:txBody>
      </p:sp>
      <p:sp>
        <p:nvSpPr>
          <p:cNvPr id="84" name="Text 81">
            <a:extLst>
              <a:ext uri="{FF2B5EF4-FFF2-40B4-BE49-F238E27FC236}">
                <a16:creationId xmlns:a16="http://schemas.microsoft.com/office/drawing/2014/main" id="{6CBF3151-66FB-ABC7-3584-16958155BD53}"/>
              </a:ext>
            </a:extLst>
          </p:cNvPr>
          <p:cNvSpPr/>
          <p:nvPr/>
        </p:nvSpPr>
        <p:spPr>
          <a:xfrm>
            <a:off x="541353" y="8720826"/>
            <a:ext cx="4557197" cy="1714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リワークで毎日やっていた</a:t>
            </a:r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マインドフルネス</a:t>
            </a:r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瞑想、通所後も続け</a:t>
            </a:r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たくて、</a:t>
            </a:r>
            <a:endParaRPr lang="en-US" altLang="ja-JP" sz="12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アプリのトップからいつでもアクセスできるようにしました。</a:t>
            </a:r>
            <a:endParaRPr lang="ja-JP" altLang="ja-JP" sz="12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当初は</a:t>
            </a:r>
            <a:r>
              <a:rPr lang="en-US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8呼吸</a:t>
            </a:r>
            <a:r>
              <a:rPr lang="en-US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パターンだけだったので、バリエーション増やしたいと思い、焦ってる時に有効な</a:t>
            </a:r>
            <a:r>
              <a:rPr lang="en-US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4呼吸</a:t>
            </a:r>
            <a:r>
              <a:rPr lang="en-US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も</a:t>
            </a:r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追加してみたけど</a:t>
            </a:r>
            <a:r>
              <a:rPr lang="en-US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…</a:t>
            </a:r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やってみると、</a:t>
            </a:r>
            <a:endParaRPr lang="en-US" altLang="ja-JP" sz="12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案外</a:t>
            </a:r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息が</a:t>
            </a:r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苦し</a:t>
            </a:r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くて難しい。</a:t>
            </a:r>
            <a:endParaRPr lang="en-US" altLang="ja-JP" sz="12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なので、呼吸タイミングを問わない</a:t>
            </a:r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シンプルな</a:t>
            </a:r>
            <a:r>
              <a:rPr lang="en-US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腹式呼吸</a:t>
            </a:r>
            <a:r>
              <a:rPr lang="en-US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機能も追加しました。</a:t>
            </a:r>
            <a:endParaRPr lang="ja-JP" altLang="ja-JP" sz="12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数息観</a:t>
            </a:r>
            <a:r>
              <a:rPr lang="en-US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</a:t>
            </a:r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数を数える呼吸法です。</a:t>
            </a:r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息を吐くタイミングでタップすると、</a:t>
            </a:r>
            <a:endParaRPr lang="en-US" altLang="ja-JP" sz="12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ふっと力が抜けて良い感じ</a:t>
            </a:r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。</a:t>
            </a:r>
            <a:endParaRPr lang="en-US" altLang="ja-JP" sz="12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呼吸マスターに向けていろいろと試してるので、これからも更新してまいります。</a:t>
            </a:r>
            <a:endParaRPr lang="en-US" sz="11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mo Bold" panose="020B0600070205080204" charset="0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E37ACC5D-2859-FB08-E3BD-092C6F9473C6}"/>
              </a:ext>
            </a:extLst>
          </p:cNvPr>
          <p:cNvSpPr/>
          <p:nvPr/>
        </p:nvSpPr>
        <p:spPr>
          <a:xfrm>
            <a:off x="1097280" y="199743"/>
            <a:ext cx="349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5276"/>
              </a:lnSpc>
            </a:pPr>
            <a:r>
              <a:rPr lang="en-US" altLang="ja-JP" sz="4000" b="1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/>
                <a:sym typeface="Arimo Bold"/>
              </a:rPr>
              <a:t>駅長だより</a:t>
            </a:r>
            <a:r>
              <a:rPr lang="en-US" altLang="ja-JP" sz="4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/>
                <a:sym typeface="Arimo Bold"/>
              </a:rPr>
              <a:t> ♯3</a:t>
            </a:r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22DC8BCB-4172-99BC-0D67-7EF19D05BCFF}"/>
              </a:ext>
            </a:extLst>
          </p:cNvPr>
          <p:cNvSpPr/>
          <p:nvPr/>
        </p:nvSpPr>
        <p:spPr>
          <a:xfrm>
            <a:off x="1163605" y="732844"/>
            <a:ext cx="4238097" cy="411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〜 ココロの途中下車アプリ </a:t>
            </a:r>
            <a:r>
              <a:rPr lang="en-US" sz="1400" i="1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開発だより</a:t>
            </a:r>
            <a:r>
              <a:rPr lang="en-US" sz="1400" i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 〜</a:t>
            </a:r>
            <a:r>
              <a:rPr lang="ja-JP" altLang="en-US" sz="1400" i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 </a:t>
            </a:r>
            <a:r>
              <a:rPr lang="en-US" sz="1400" i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2026年9月号</a:t>
            </a:r>
            <a:endParaRPr lang="en-US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76">
            <a:extLst>
              <a:ext uri="{FF2B5EF4-FFF2-40B4-BE49-F238E27FC236}">
                <a16:creationId xmlns:a16="http://schemas.microsoft.com/office/drawing/2014/main" id="{766DA695-063A-2888-935C-10D8F215FD4C}"/>
              </a:ext>
            </a:extLst>
          </p:cNvPr>
          <p:cNvSpPr/>
          <p:nvPr/>
        </p:nvSpPr>
        <p:spPr>
          <a:xfrm>
            <a:off x="457993" y="6533927"/>
            <a:ext cx="5943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ja-JP" sz="2400" b="1" spc="200" dirty="0">
                <a:solidFill>
                  <a:srgbClr val="E124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02. </a:t>
            </a:r>
            <a:r>
              <a:rPr lang="ja-JP" altLang="en-US" sz="2400" b="1" spc="200" dirty="0">
                <a:solidFill>
                  <a:srgbClr val="E124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アップデート情報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A714337-093A-EE9F-AD4D-FB84D3762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747" y="8803758"/>
            <a:ext cx="1589313" cy="1589313"/>
          </a:xfrm>
          <a:prstGeom prst="rect">
            <a:avLst/>
          </a:prstGeom>
          <a:ln>
            <a:noFill/>
          </a:ln>
        </p:spPr>
      </p:pic>
      <p:pic>
        <p:nvPicPr>
          <p:cNvPr id="5" name="グラフィックス 4" descr="葉 単色塗りつぶし">
            <a:extLst>
              <a:ext uri="{FF2B5EF4-FFF2-40B4-BE49-F238E27FC236}">
                <a16:creationId xmlns:a16="http://schemas.microsoft.com/office/drawing/2014/main" id="{E37284C3-B283-51B2-4788-0A76D3710D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669780" y="2525767"/>
            <a:ext cx="468000" cy="468000"/>
          </a:xfrm>
          <a:prstGeom prst="rect">
            <a:avLst/>
          </a:prstGeom>
          <a:effectLst/>
        </p:spPr>
      </p:pic>
      <p:sp>
        <p:nvSpPr>
          <p:cNvPr id="300" name="Access Box">
            <a:extLst>
              <a:ext uri="{FF2B5EF4-FFF2-40B4-BE49-F238E27FC236}">
                <a16:creationId xmlns:a16="http://schemas.microsoft.com/office/drawing/2014/main" id="{77C2DC61-1082-F9DE-1854-01AAA56BBA62}"/>
              </a:ext>
            </a:extLst>
          </p:cNvPr>
          <p:cNvSpPr/>
          <p:nvPr/>
        </p:nvSpPr>
        <p:spPr>
          <a:xfrm>
            <a:off x="191474" y="1642462"/>
            <a:ext cx="7179902" cy="801007"/>
          </a:xfrm>
          <a:prstGeom prst="roundRect">
            <a:avLst>
              <a:gd name="adj" fmla="val 12684"/>
            </a:avLst>
          </a:prstGeom>
          <a:solidFill>
            <a:srgbClr val="FF0066">
              <a:alpha val="40000"/>
            </a:srgb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endParaRPr 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01" name="QR Code" descr="ココロの途中下車アプリ QRコード">
            <a:extLst>
              <a:ext uri="{FF2B5EF4-FFF2-40B4-BE49-F238E27FC236}">
                <a16:creationId xmlns:a16="http://schemas.microsoft.com/office/drawing/2014/main" id="{6A178350-5223-8436-A99E-8247B29221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27" y="1727470"/>
            <a:ext cx="648000" cy="648000"/>
          </a:xfrm>
          <a:prstGeom prst="rect">
            <a:avLst/>
          </a:prstGeom>
        </p:spPr>
      </p:pic>
      <p:sp>
        <p:nvSpPr>
          <p:cNvPr id="302" name="Access Text">
            <a:extLst>
              <a:ext uri="{FF2B5EF4-FFF2-40B4-BE49-F238E27FC236}">
                <a16:creationId xmlns:a16="http://schemas.microsoft.com/office/drawing/2014/main" id="{A34822E7-CABB-BEAE-1BF0-0EC4FFD16A90}"/>
              </a:ext>
            </a:extLst>
          </p:cNvPr>
          <p:cNvSpPr/>
          <p:nvPr/>
        </p:nvSpPr>
        <p:spPr>
          <a:xfrm>
            <a:off x="1219094" y="1676016"/>
            <a:ext cx="6174168" cy="7415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≪アプリはこちらから（ダウンロード不要です）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altLang="ja-JP" dirty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https://loquacious-snickerdoodle-9e80f4.netlify.app/</a:t>
            </a:r>
          </a:p>
        </p:txBody>
      </p:sp>
      <p:sp>
        <p:nvSpPr>
          <p:cNvPr id="11" name="Text 75">
            <a:extLst>
              <a:ext uri="{FF2B5EF4-FFF2-40B4-BE49-F238E27FC236}">
                <a16:creationId xmlns:a16="http://schemas.microsoft.com/office/drawing/2014/main" id="{88432D68-4919-E1DB-8708-FBFE4B84937C}"/>
              </a:ext>
            </a:extLst>
          </p:cNvPr>
          <p:cNvSpPr/>
          <p:nvPr/>
        </p:nvSpPr>
        <p:spPr>
          <a:xfrm>
            <a:off x="663911" y="7342081"/>
            <a:ext cx="6729351" cy="3440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　</a:t>
            </a:r>
            <a:r>
              <a:rPr lang="ja-JP" altLang="en-US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コーピング機能</a:t>
            </a:r>
            <a:r>
              <a:rPr lang="en-US" sz="1400" b="1" dirty="0" err="1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をリニューアル</a:t>
            </a:r>
            <a:r>
              <a:rPr lang="en-US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（</a:t>
            </a:r>
            <a:r>
              <a:rPr lang="ja-JP" altLang="en-US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コーピングリスト表示、マイコーピングへの追加など</a:t>
            </a:r>
            <a:r>
              <a:rPr lang="en-US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）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5B03670A-5C17-83D6-95CB-D8755FDB363B}"/>
              </a:ext>
            </a:extLst>
          </p:cNvPr>
          <p:cNvGrpSpPr/>
          <p:nvPr/>
        </p:nvGrpSpPr>
        <p:grpSpPr>
          <a:xfrm>
            <a:off x="428673" y="7059521"/>
            <a:ext cx="269777" cy="269407"/>
            <a:chOff x="415974" y="7072097"/>
            <a:chExt cx="269777" cy="269407"/>
          </a:xfrm>
        </p:grpSpPr>
        <p:pic>
          <p:nvPicPr>
            <p:cNvPr id="8" name="グラフィックス 7" descr="りんご 単色塗りつぶし">
              <a:extLst>
                <a:ext uri="{FF2B5EF4-FFF2-40B4-BE49-F238E27FC236}">
                  <a16:creationId xmlns:a16="http://schemas.microsoft.com/office/drawing/2014/main" id="{DD07D978-F834-43A9-117C-3EA2B9B21B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3751" y="7072097"/>
              <a:ext cx="252000" cy="252000"/>
            </a:xfrm>
            <a:prstGeom prst="rect">
              <a:avLst/>
            </a:prstGeom>
          </p:spPr>
        </p:pic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FF33940B-B1C6-E6CE-2B4C-C20D1485F2AC}"/>
                </a:ext>
              </a:extLst>
            </p:cNvPr>
            <p:cNvSpPr txBox="1"/>
            <p:nvPr/>
          </p:nvSpPr>
          <p:spPr>
            <a:xfrm>
              <a:off x="415974" y="7126060"/>
              <a:ext cx="2632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80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１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BE76878-2E91-676B-8FAA-21F6CCF27B5E}"/>
              </a:ext>
            </a:extLst>
          </p:cNvPr>
          <p:cNvGrpSpPr/>
          <p:nvPr/>
        </p:nvGrpSpPr>
        <p:grpSpPr>
          <a:xfrm>
            <a:off x="428673" y="7415942"/>
            <a:ext cx="269776" cy="278576"/>
            <a:chOff x="415974" y="7404869"/>
            <a:chExt cx="269776" cy="278576"/>
          </a:xfrm>
        </p:grpSpPr>
        <p:pic>
          <p:nvPicPr>
            <p:cNvPr id="9" name="グラフィックス 8" descr="りんご 単色塗りつぶし">
              <a:extLst>
                <a:ext uri="{FF2B5EF4-FFF2-40B4-BE49-F238E27FC236}">
                  <a16:creationId xmlns:a16="http://schemas.microsoft.com/office/drawing/2014/main" id="{27E27FF2-85E0-4179-EA18-993FABABC2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3750" y="7404869"/>
              <a:ext cx="252000" cy="252000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695C40ED-9B3C-5773-34A5-7FBCCF373464}"/>
                </a:ext>
              </a:extLst>
            </p:cNvPr>
            <p:cNvSpPr txBox="1"/>
            <p:nvPr/>
          </p:nvSpPr>
          <p:spPr>
            <a:xfrm>
              <a:off x="415974" y="7468001"/>
              <a:ext cx="2632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80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２</a:t>
              </a:r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E4FD5E6-1727-5A9C-374C-0D49920028A0}"/>
              </a:ext>
            </a:extLst>
          </p:cNvPr>
          <p:cNvSpPr txBox="1"/>
          <p:nvPr/>
        </p:nvSpPr>
        <p:spPr>
          <a:xfrm>
            <a:off x="5406369" y="8573142"/>
            <a:ext cx="19190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みんなの推し呼吸を教えてね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79B07B7-E194-0CC5-B624-836B0805CA8D}"/>
              </a:ext>
            </a:extLst>
          </p:cNvPr>
          <p:cNvSpPr txBox="1"/>
          <p:nvPr/>
        </p:nvSpPr>
        <p:spPr>
          <a:xfrm>
            <a:off x="2888560" y="3199031"/>
            <a:ext cx="42532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今月は、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ココロ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を落ち着かせる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マインドフルネス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瞑想を紹介します。</a:t>
            </a:r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りんごの呼吸：真ん中の大きなりんごは、ふくらんだり、しぼんだり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して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肺の動きをイメージしました。まわりのガイド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サークル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は息を吸う、吐くのタイミングに合わせて動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き、呼吸のタイミングを誘導します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。</a:t>
            </a:r>
            <a:br>
              <a:rPr lang="en-US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4つの呼吸法：呼吸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法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選択時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に、それぞれの「効果・やり方・コツ」を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表示するようにしました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。自分に合う呼吸を探して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みてください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ね。</a:t>
            </a:r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サウンド：瞑想へ集中するための癒し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サウンド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選べます。瞑想の始まり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の合図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は「発車のベル」、終わり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の合図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は「シンギングボウル」が鳴り響きます。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ゴーーン。終わったらゆっくりと現実へ戻りましょう。</a:t>
            </a:r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そのほか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機能：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夜用の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「ダークモード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や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タイマー切替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も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あるので、利用</a:t>
            </a:r>
            <a:r>
              <a:rPr lang="ja-JP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シーンに合わせて選んで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みてください。</a:t>
            </a:r>
            <a:endParaRPr lang="ja-JP" altLang="ja-JP" sz="1200" dirty="0">
              <a:solidFill>
                <a:schemeClr val="accent5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3" name="図 22" descr="The image shows a fitness tracker app interface displaying a timer and a list of breathing exercises.&#10;&#10;AI 生成コンテンツは誤りを含む可能性があります。">
            <a:extLst>
              <a:ext uri="{FF2B5EF4-FFF2-40B4-BE49-F238E27FC236}">
                <a16:creationId xmlns:a16="http://schemas.microsoft.com/office/drawing/2014/main" id="{AAF11D3F-9C44-8FE3-633E-7AF3AEEE98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042" y="3581433"/>
            <a:ext cx="1983596" cy="25446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A05053C-8FAA-7D44-ADA3-8CFC8FDEFF29}"/>
              </a:ext>
            </a:extLst>
          </p:cNvPr>
          <p:cNvCxnSpPr>
            <a:cxnSpLocks/>
          </p:cNvCxnSpPr>
          <p:nvPr/>
        </p:nvCxnSpPr>
        <p:spPr>
          <a:xfrm>
            <a:off x="416750" y="6388493"/>
            <a:ext cx="67293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AC805CC6-DDC6-5B2C-BF62-96EEABA94E4F}"/>
              </a:ext>
            </a:extLst>
          </p:cNvPr>
          <p:cNvCxnSpPr>
            <a:cxnSpLocks/>
          </p:cNvCxnSpPr>
          <p:nvPr/>
        </p:nvCxnSpPr>
        <p:spPr>
          <a:xfrm>
            <a:off x="416750" y="7918729"/>
            <a:ext cx="67293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グラフィックス 17" descr="シャッフル 単色塗りつぶし">
            <a:extLst>
              <a:ext uri="{FF2B5EF4-FFF2-40B4-BE49-F238E27FC236}">
                <a16:creationId xmlns:a16="http://schemas.microsoft.com/office/drawing/2014/main" id="{B7524306-C8BB-6FDF-AC61-9477ACBF4B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669780" y="6476655"/>
            <a:ext cx="468000" cy="468000"/>
          </a:xfrm>
          <a:prstGeom prst="rect">
            <a:avLst/>
          </a:prstGeom>
          <a:effectLst/>
        </p:spPr>
      </p:pic>
      <p:pic>
        <p:nvPicPr>
          <p:cNvPr id="20" name="グラフィックス 19" descr="タイプライター 単色塗りつぶし">
            <a:extLst>
              <a:ext uri="{FF2B5EF4-FFF2-40B4-BE49-F238E27FC236}">
                <a16:creationId xmlns:a16="http://schemas.microsoft.com/office/drawing/2014/main" id="{1BDC0C49-2174-964A-29A2-F6DB993BEC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669780" y="8064761"/>
            <a:ext cx="468000" cy="468000"/>
          </a:xfrm>
          <a:prstGeom prst="rect">
            <a:avLst/>
          </a:prstGeom>
          <a:effectLst/>
        </p:spPr>
      </p:pic>
      <p:pic>
        <p:nvPicPr>
          <p:cNvPr id="25" name="図 24" descr="Tap to Start&#10;&#10;AI 生成コンテンツは誤りを含む可能性があります。">
            <a:extLst>
              <a:ext uri="{FF2B5EF4-FFF2-40B4-BE49-F238E27FC236}">
                <a16:creationId xmlns:a16="http://schemas.microsoft.com/office/drawing/2014/main" id="{6079AD06-053F-598A-2874-5A3A9FC42440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7F4EF"/>
              </a:clrFrom>
              <a:clrTo>
                <a:srgbClr val="F7F4E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5473" y="3157393"/>
            <a:ext cx="2363673" cy="34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035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DB03EF-CD1A-41BC-8544-1480A5AEA61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7c54503f-5884-40f3-8c34-dcec0353ceb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1663</TotalTime>
  <Words>376</Words>
  <Application>Microsoft Office PowerPoint</Application>
  <PresentationFormat>ユーザー設定</PresentationFormat>
  <Paragraphs>29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Meiryo UI</vt:lpstr>
      <vt:lpstr>メイリオ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yasushi takamura</cp:lastModifiedBy>
  <cp:revision>40</cp:revision>
  <dcterms:created xsi:type="dcterms:W3CDTF">2026-08-10T16:56:47Z</dcterms:created>
  <dcterms:modified xsi:type="dcterms:W3CDTF">2026-09-10T15:40:31Z</dcterms:modified>
</cp:coreProperties>
</file>