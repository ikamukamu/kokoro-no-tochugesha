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64B"/>
    <a:srgbClr val="A5A5A5"/>
    <a:srgbClr val="FFFFFF"/>
    <a:srgbClr val="FF0066"/>
    <a:srgbClr val="00B0F0"/>
    <a:srgbClr val="042041"/>
    <a:srgbClr val="EEEBF0"/>
    <a:srgbClr val="001432"/>
    <a:srgbClr val="000B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5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2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66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569AB-F05B-2295-787F-D82D978F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A9487-251E-8DB5-2BF4-B8CCAD19C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11FB8-D8D4-118B-2CF3-90B5B79C5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9F23B-DABD-A96B-69BE-C2A11C700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15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F83E-9BA6-E1D6-BD14-30F64AAA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cess Box">
            <a:extLst>
              <a:ext uri="{FF2B5EF4-FFF2-40B4-BE49-F238E27FC236}">
                <a16:creationId xmlns:a16="http://schemas.microsoft.com/office/drawing/2014/main" id="{B611938E-D74B-4878-FFFB-C82C32BB18E7}"/>
              </a:ext>
            </a:extLst>
          </p:cNvPr>
          <p:cNvSpPr/>
          <p:nvPr/>
        </p:nvSpPr>
        <p:spPr>
          <a:xfrm>
            <a:off x="191475" y="3096222"/>
            <a:ext cx="7179902" cy="3176597"/>
          </a:xfrm>
          <a:prstGeom prst="roundRect">
            <a:avLst>
              <a:gd name="adj" fmla="val 3637"/>
            </a:avLst>
          </a:prstGeom>
          <a:solidFill>
            <a:schemeClr val="tx2">
              <a:lumMod val="40000"/>
              <a:lumOff val="60000"/>
              <a:alpha val="20000"/>
            </a:schemeClr>
          </a:solidFill>
          <a:ln>
            <a:noFill/>
          </a:ln>
        </p:spPr>
        <p:txBody>
          <a:bodyPr>
            <a:noAutofit/>
          </a:bodyPr>
          <a:lstStyle/>
          <a:p>
            <a:endParaRPr lang="ja-JP" dirty="0">
              <a:solidFill>
                <a:schemeClr val="accent5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4" name="図 43" descr="submit score&#10;&#10;AI 生成コンテンツは誤りを含む可能性があります。">
            <a:extLst>
              <a:ext uri="{FF2B5EF4-FFF2-40B4-BE49-F238E27FC236}">
                <a16:creationId xmlns:a16="http://schemas.microsoft.com/office/drawing/2014/main" id="{AFA5B380-DB53-6EE8-0222-761CD521F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49" y="4221081"/>
            <a:ext cx="2512476" cy="19285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図 12" descr="A vibrant autumn scene with a steam train chugging through a picturesque landscape under a starry, moonlit night sky.&#10;&#10;AI 生成コンテンツは誤りを含む可能性があります。">
            <a:extLst>
              <a:ext uri="{FF2B5EF4-FFF2-40B4-BE49-F238E27FC236}">
                <a16:creationId xmlns:a16="http://schemas.microsoft.com/office/drawing/2014/main" id="{4AC81B6A-F7C0-4C77-6FEA-B94CD55869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283"/>
          <a:stretch>
            <a:fillRect/>
          </a:stretch>
        </p:blipFill>
        <p:spPr>
          <a:xfrm>
            <a:off x="0" y="5825"/>
            <a:ext cx="7562850" cy="2060988"/>
          </a:xfrm>
          <a:prstGeom prst="rect">
            <a:avLst/>
          </a:prstGeom>
        </p:spPr>
      </p:pic>
      <p:sp>
        <p:nvSpPr>
          <p:cNvPr id="6" name="Access Box">
            <a:extLst>
              <a:ext uri="{FF2B5EF4-FFF2-40B4-BE49-F238E27FC236}">
                <a16:creationId xmlns:a16="http://schemas.microsoft.com/office/drawing/2014/main" id="{4283E0BF-BDA2-4595-F6D7-D860473A5AE2}"/>
              </a:ext>
            </a:extLst>
          </p:cNvPr>
          <p:cNvSpPr/>
          <p:nvPr/>
        </p:nvSpPr>
        <p:spPr>
          <a:xfrm>
            <a:off x="375292" y="8640248"/>
            <a:ext cx="4927405" cy="1836000"/>
          </a:xfrm>
          <a:prstGeom prst="roundRect">
            <a:avLst>
              <a:gd name="adj" fmla="val 3637"/>
            </a:avLst>
          </a:prstGeom>
          <a:solidFill>
            <a:schemeClr val="bg1">
              <a:alpha val="10196"/>
            </a:schemeClr>
          </a:solidFill>
          <a:ln w="57150" cmpd="thickThin">
            <a:solidFill>
              <a:srgbClr val="FF0066"/>
            </a:solidFill>
          </a:ln>
        </p:spPr>
        <p:txBody>
          <a:bodyPr>
            <a:noAutofit/>
          </a:bodyPr>
          <a:lstStyle/>
          <a:p>
            <a:endParaRPr lang="ja-JP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F301CED6-02D8-6ADA-C424-1FEB0B093C93}"/>
              </a:ext>
            </a:extLst>
          </p:cNvPr>
          <p:cNvSpPr/>
          <p:nvPr/>
        </p:nvSpPr>
        <p:spPr>
          <a:xfrm>
            <a:off x="729889" y="7019725"/>
            <a:ext cx="6729351" cy="25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更新情報のお知らせを開始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（掲示板の貼り紙と</a:t>
            </a:r>
            <a:r>
              <a:rPr lang="en-US" altLang="ja-JP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NEW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マークでお知らせ）</a:t>
            </a:r>
            <a:endParaRPr lang="en-US" sz="14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79" name="Text 76">
            <a:extLst>
              <a:ext uri="{FF2B5EF4-FFF2-40B4-BE49-F238E27FC236}">
                <a16:creationId xmlns:a16="http://schemas.microsoft.com/office/drawing/2014/main" id="{4F0E6D69-3C93-032F-ADD4-910574935A5A}"/>
              </a:ext>
            </a:extLst>
          </p:cNvPr>
          <p:cNvSpPr/>
          <p:nvPr/>
        </p:nvSpPr>
        <p:spPr>
          <a:xfrm>
            <a:off x="457993" y="2587063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01.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 今月の機能紹介「コーピング」</a:t>
            </a:r>
            <a:endParaRPr lang="en-US" altLang="ja-JP" sz="2400" b="1" spc="200" dirty="0">
              <a:solidFill>
                <a:srgbClr val="E12461"/>
              </a:solidFill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3" name="Text 80">
            <a:extLst>
              <a:ext uri="{FF2B5EF4-FFF2-40B4-BE49-F238E27FC236}">
                <a16:creationId xmlns:a16="http://schemas.microsoft.com/office/drawing/2014/main" id="{5DAB5701-BEC0-A468-90A0-4C732D14CB90}"/>
              </a:ext>
            </a:extLst>
          </p:cNvPr>
          <p:cNvSpPr/>
          <p:nvPr/>
        </p:nvSpPr>
        <p:spPr>
          <a:xfrm>
            <a:off x="457993" y="814343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03. </a:t>
            </a:r>
            <a:r>
              <a:rPr lang="en-US" sz="2400" b="1" spc="200" dirty="0" err="1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駅長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の開発日誌</a:t>
            </a:r>
            <a:endParaRPr lang="en-US" sz="2400" spc="200" dirty="0"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sp>
        <p:nvSpPr>
          <p:cNvPr id="84" name="Text 81">
            <a:extLst>
              <a:ext uri="{FF2B5EF4-FFF2-40B4-BE49-F238E27FC236}">
                <a16:creationId xmlns:a16="http://schemas.microsoft.com/office/drawing/2014/main" id="{6CBF3151-66FB-ABC7-3584-16958155BD53}"/>
              </a:ext>
            </a:extLst>
          </p:cNvPr>
          <p:cNvSpPr/>
          <p:nvPr/>
        </p:nvSpPr>
        <p:spPr>
          <a:xfrm>
            <a:off x="535412" y="8744416"/>
            <a:ext cx="4622090" cy="169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勤め先の会社で「こころの窓口」的な連絡先があったんですが、先日窓口を閉鎖しましたという悲しい通達がきました。（えー）</a:t>
            </a:r>
          </a:p>
          <a:p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せっかく制度を作ってくれても、なかなか使う人いないのかな、と思います。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ほんとうにつらい時でも「誰か」に頼るのってハードルがある気がしていて</a:t>
            </a:r>
            <a:r>
              <a:rPr lang="en-US" altLang="ja-JP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…</a:t>
            </a:r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自分がそうなので。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ja-JP" altLang="en-US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そんな閉鎖を横目にあらためて（もっとしっかりアプリ作ろ）と思いました。</a:t>
            </a:r>
            <a:endParaRPr lang="en-US" altLang="ja-JP" sz="12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2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「誰か」に頼れなくても、頼れる「何か」があると良いな、と思っています。</a:t>
            </a: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37ACC5D-2859-FB08-E3BD-092C6F9473C6}"/>
              </a:ext>
            </a:extLst>
          </p:cNvPr>
          <p:cNvSpPr/>
          <p:nvPr/>
        </p:nvSpPr>
        <p:spPr>
          <a:xfrm>
            <a:off x="1097280" y="199743"/>
            <a:ext cx="349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ts val="5276"/>
              </a:lnSpc>
            </a:pPr>
            <a:r>
              <a:rPr lang="en-US" altLang="ja-JP" sz="4000" b="1" dirty="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/>
                <a:sym typeface="Arimo Bold"/>
              </a:rPr>
              <a:t>駅長だより</a:t>
            </a:r>
            <a:r>
              <a:rPr lang="en-US" altLang="ja-JP" sz="4000" b="1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/>
                <a:sym typeface="Arimo Bold"/>
              </a:rPr>
              <a:t> ♯4</a:t>
            </a: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2DC8BCB-4172-99BC-0D67-7EF19D05BCFF}"/>
              </a:ext>
            </a:extLst>
          </p:cNvPr>
          <p:cNvSpPr/>
          <p:nvPr/>
        </p:nvSpPr>
        <p:spPr>
          <a:xfrm>
            <a:off x="1163605" y="732843"/>
            <a:ext cx="4238097" cy="411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bg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〜 ココロの途中下車アプリ </a:t>
            </a:r>
            <a:r>
              <a:rPr lang="en-US" sz="1400" i="1" dirty="0" err="1">
                <a:solidFill>
                  <a:schemeClr val="bg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開発だより</a:t>
            </a:r>
            <a:r>
              <a:rPr lang="en-US" sz="1400" i="1" dirty="0">
                <a:solidFill>
                  <a:schemeClr val="bg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〜</a:t>
            </a:r>
            <a:r>
              <a:rPr lang="ja-JP" altLang="en-US" sz="1400" i="1" dirty="0">
                <a:solidFill>
                  <a:schemeClr val="bg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 </a:t>
            </a:r>
            <a:r>
              <a:rPr lang="en-US" sz="1400" i="1" dirty="0">
                <a:solidFill>
                  <a:schemeClr val="bg1"/>
                </a:solidFill>
                <a:effectLst>
                  <a:glow rad="63500">
                    <a:schemeClr val="accent5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eiryo UI" panose="020B0604030504040204" pitchFamily="50" charset="-128"/>
                <a:ea typeface="Meiryo UI" panose="020B0604030504040204" pitchFamily="50" charset="-128"/>
                <a:cs typeface="Yu Gothic" pitchFamily="34" charset="-120"/>
              </a:rPr>
              <a:t>2026年10月号</a:t>
            </a:r>
            <a:endParaRPr lang="en-US" sz="1400" dirty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76">
            <a:extLst>
              <a:ext uri="{FF2B5EF4-FFF2-40B4-BE49-F238E27FC236}">
                <a16:creationId xmlns:a16="http://schemas.microsoft.com/office/drawing/2014/main" id="{766DA695-063A-2888-935C-10D8F215FD4C}"/>
              </a:ext>
            </a:extLst>
          </p:cNvPr>
          <p:cNvSpPr/>
          <p:nvPr/>
        </p:nvSpPr>
        <p:spPr>
          <a:xfrm>
            <a:off x="457993" y="6533927"/>
            <a:ext cx="5943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altLang="ja-JP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02. </a:t>
            </a:r>
            <a:r>
              <a:rPr lang="ja-JP" altLang="en-US" sz="2400" b="1" spc="200" dirty="0">
                <a:solidFill>
                  <a:srgbClr val="E1246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今月のアップデート情報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A714337-093A-EE9F-AD4D-FB84D37620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507" y="8909746"/>
            <a:ext cx="1589313" cy="1589313"/>
          </a:xfrm>
          <a:prstGeom prst="rect">
            <a:avLst/>
          </a:prstGeom>
          <a:ln>
            <a:noFill/>
          </a:ln>
        </p:spPr>
      </p:pic>
      <p:sp>
        <p:nvSpPr>
          <p:cNvPr id="300" name="Access Box">
            <a:extLst>
              <a:ext uri="{FF2B5EF4-FFF2-40B4-BE49-F238E27FC236}">
                <a16:creationId xmlns:a16="http://schemas.microsoft.com/office/drawing/2014/main" id="{77C2DC61-1082-F9DE-1854-01AAA56BBA62}"/>
              </a:ext>
            </a:extLst>
          </p:cNvPr>
          <p:cNvSpPr/>
          <p:nvPr/>
        </p:nvSpPr>
        <p:spPr>
          <a:xfrm>
            <a:off x="191474" y="1642462"/>
            <a:ext cx="7179902" cy="801007"/>
          </a:xfrm>
          <a:prstGeom prst="roundRect">
            <a:avLst>
              <a:gd name="adj" fmla="val 12684"/>
            </a:avLst>
          </a:prstGeom>
          <a:solidFill>
            <a:srgbClr val="FF0066">
              <a:alpha val="40000"/>
            </a:srgbClr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endParaRPr lang="ja-JP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01" name="QR Code" descr="ココロの途中下車アプリ QRコード">
            <a:extLst>
              <a:ext uri="{FF2B5EF4-FFF2-40B4-BE49-F238E27FC236}">
                <a16:creationId xmlns:a16="http://schemas.microsoft.com/office/drawing/2014/main" id="{6A178350-5223-8436-A99E-8247B29221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42" y="1727470"/>
            <a:ext cx="648000" cy="648000"/>
          </a:xfrm>
          <a:prstGeom prst="rect">
            <a:avLst/>
          </a:prstGeom>
        </p:spPr>
      </p:pic>
      <p:sp>
        <p:nvSpPr>
          <p:cNvPr id="302" name="Access Text">
            <a:extLst>
              <a:ext uri="{FF2B5EF4-FFF2-40B4-BE49-F238E27FC236}">
                <a16:creationId xmlns:a16="http://schemas.microsoft.com/office/drawing/2014/main" id="{A34822E7-CABB-BEAE-1BF0-0EC4FFD16A90}"/>
              </a:ext>
            </a:extLst>
          </p:cNvPr>
          <p:cNvSpPr/>
          <p:nvPr/>
        </p:nvSpPr>
        <p:spPr>
          <a:xfrm>
            <a:off x="1097280" y="1676016"/>
            <a:ext cx="6295982" cy="7415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≪アプリはこちらから（ダウンロード不要です）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altLang="ja-JP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https://loquacious-snickerdoodle-9e80f4.netlify.app/</a:t>
            </a:r>
          </a:p>
        </p:txBody>
      </p:sp>
      <p:sp>
        <p:nvSpPr>
          <p:cNvPr id="11" name="Text 75">
            <a:extLst>
              <a:ext uri="{FF2B5EF4-FFF2-40B4-BE49-F238E27FC236}">
                <a16:creationId xmlns:a16="http://schemas.microsoft.com/office/drawing/2014/main" id="{88432D68-4919-E1DB-8708-FBFE4B84937C}"/>
              </a:ext>
            </a:extLst>
          </p:cNvPr>
          <p:cNvSpPr/>
          <p:nvPr/>
        </p:nvSpPr>
        <p:spPr>
          <a:xfrm>
            <a:off x="729248" y="7371569"/>
            <a:ext cx="6664014" cy="2807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季節の背景演出を追加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（秋は紅葉。</a:t>
            </a:r>
            <a:r>
              <a:rPr lang="en-US" altLang="ja-JP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〜11/30</a:t>
            </a:r>
            <a:r>
              <a:rPr lang="ja-JP" altLang="en-US" sz="1400" dirty="0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mo Bold" panose="020B0600070205080204" charset="0"/>
              </a:rPr>
              <a:t>予定）</a:t>
            </a:r>
            <a:endParaRPr lang="en-US" sz="1400" dirty="0">
              <a:solidFill>
                <a:srgbClr val="002060"/>
              </a:solidFill>
              <a:latin typeface="Meiryo UI" panose="020B0604030504040204" pitchFamily="50" charset="-128"/>
              <a:ea typeface="Meiryo UI" panose="020B0604030504040204" pitchFamily="50" charset="-128"/>
              <a:cs typeface="Arimo Bold" panose="020B0600070205080204" charset="0"/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B03670A-5C17-83D6-95CB-D8755FDB363B}"/>
              </a:ext>
            </a:extLst>
          </p:cNvPr>
          <p:cNvGrpSpPr/>
          <p:nvPr/>
        </p:nvGrpSpPr>
        <p:grpSpPr>
          <a:xfrm>
            <a:off x="428673" y="7025653"/>
            <a:ext cx="269777" cy="269407"/>
            <a:chOff x="415974" y="7072097"/>
            <a:chExt cx="269777" cy="269407"/>
          </a:xfrm>
        </p:grpSpPr>
        <p:pic>
          <p:nvPicPr>
            <p:cNvPr id="8" name="グラフィックス 7" descr="りんご 単色塗りつぶし">
              <a:extLst>
                <a:ext uri="{FF2B5EF4-FFF2-40B4-BE49-F238E27FC236}">
                  <a16:creationId xmlns:a16="http://schemas.microsoft.com/office/drawing/2014/main" id="{DD07D978-F834-43A9-117C-3EA2B9B21B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751" y="7072097"/>
              <a:ext cx="252000" cy="252000"/>
            </a:xfrm>
            <a:prstGeom prst="rect">
              <a:avLst/>
            </a:prstGeom>
          </p:spPr>
        </p:pic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FF33940B-B1C6-E6CE-2B4C-C20D1485F2AC}"/>
                </a:ext>
              </a:extLst>
            </p:cNvPr>
            <p:cNvSpPr txBox="1"/>
            <p:nvPr/>
          </p:nvSpPr>
          <p:spPr>
            <a:xfrm>
              <a:off x="415974" y="7126060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１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BE76878-2E91-676B-8FAA-21F6CCF27B5E}"/>
              </a:ext>
            </a:extLst>
          </p:cNvPr>
          <p:cNvGrpSpPr/>
          <p:nvPr/>
        </p:nvGrpSpPr>
        <p:grpSpPr>
          <a:xfrm>
            <a:off x="428673" y="7397314"/>
            <a:ext cx="269776" cy="278576"/>
            <a:chOff x="415974" y="7404869"/>
            <a:chExt cx="269776" cy="278576"/>
          </a:xfrm>
        </p:grpSpPr>
        <p:pic>
          <p:nvPicPr>
            <p:cNvPr id="9" name="グラフィックス 8" descr="りんご 単色塗りつぶし">
              <a:extLst>
                <a:ext uri="{FF2B5EF4-FFF2-40B4-BE49-F238E27FC236}">
                  <a16:creationId xmlns:a16="http://schemas.microsoft.com/office/drawing/2014/main" id="{27E27FF2-85E0-4179-EA18-993FABABC2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3750" y="7404869"/>
              <a:ext cx="252000" cy="2520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95C40ED-9B3C-5773-34A5-7FBCCF373464}"/>
                </a:ext>
              </a:extLst>
            </p:cNvPr>
            <p:cNvSpPr txBox="1"/>
            <p:nvPr/>
          </p:nvSpPr>
          <p:spPr>
            <a:xfrm>
              <a:off x="415974" y="7468001"/>
              <a:ext cx="2632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800" dirty="0">
                  <a:solidFill>
                    <a:schemeClr val="bg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２</a:t>
              </a: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E4FD5E6-1727-5A9C-374C-0D49920028A0}"/>
              </a:ext>
            </a:extLst>
          </p:cNvPr>
          <p:cNvSpPr txBox="1"/>
          <p:nvPr/>
        </p:nvSpPr>
        <p:spPr>
          <a:xfrm>
            <a:off x="5387059" y="8513583"/>
            <a:ext cx="19843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日照短いとエネルギー減るから</a:t>
            </a:r>
            <a:endParaRPr lang="en-US" altLang="ja-JP" sz="1200" dirty="0">
              <a:solidFill>
                <a:srgbClr val="00B0F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rgbClr val="00B0F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秋はマイペースでいこうね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79B07B7-E194-0CC5-B624-836B0805CA8D}"/>
              </a:ext>
            </a:extLst>
          </p:cNvPr>
          <p:cNvSpPr txBox="1"/>
          <p:nvPr/>
        </p:nvSpPr>
        <p:spPr>
          <a:xfrm>
            <a:off x="2971920" y="3274200"/>
            <a:ext cx="4253260" cy="276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今月は「コーピング」機能を紹介します。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コーピングとは、ストレスやつらさに対処するための“自分なりの行動”。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rgbClr val="FF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今、どんな状態？：</a:t>
            </a:r>
            <a:r>
              <a:rPr lang="en-US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つのタブから、今の自分に近い状態を選びます。「バクバク心臓」「イライラ気分」「ガチガチ思考」「チクチク視線」「ポッカリ虚無」。選択した状態に対応したコーピングのリストが表示されます。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rgbClr val="FF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追加登録：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自分用のコーピングを登録できます。タイトルだけで保存できて、詳細はあとで追加可能なので、どんどん登録しましょう。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rgbClr val="FF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コーピングリスト：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タイトルをタップすると、やり方と「効果のイメージ」が開きます。「そのまま追加」か「編集して追加」ボタンで、マイコーピングにも登録できます。「やってみた」で、保管庫に使用記録が残ります。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rgbClr val="FF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マイコーピング：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自分で登録したコーピングだけが表示されます。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spcBef>
                <a:spcPts val="300"/>
              </a:spcBef>
            </a:pPr>
            <a:r>
              <a:rPr lang="ja-JP" altLang="en-US" sz="1200" dirty="0">
                <a:solidFill>
                  <a:srgbClr val="FF0066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駅長のヒント集：</a:t>
            </a:r>
            <a:r>
              <a:rPr lang="en-US" altLang="ja-JP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49</a:t>
            </a:r>
            <a:r>
              <a:rPr lang="ja-JP" altLang="en-US" sz="1200" dirty="0">
                <a:solidFill>
                  <a:schemeClr val="accent5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個のヒントのコーピングをあらかじめ登録してます。</a:t>
            </a:r>
            <a:endParaRPr lang="en-US" altLang="ja-JP" sz="1200" dirty="0">
              <a:solidFill>
                <a:schemeClr val="accent5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A05053C-8FAA-7D44-ADA3-8CFC8FDEFF29}"/>
              </a:ext>
            </a:extLst>
          </p:cNvPr>
          <p:cNvCxnSpPr>
            <a:cxnSpLocks/>
          </p:cNvCxnSpPr>
          <p:nvPr/>
        </p:nvCxnSpPr>
        <p:spPr>
          <a:xfrm>
            <a:off x="416750" y="6388493"/>
            <a:ext cx="6729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C805CC6-DDC6-5B2C-BF62-96EEABA94E4F}"/>
              </a:ext>
            </a:extLst>
          </p:cNvPr>
          <p:cNvCxnSpPr>
            <a:cxnSpLocks/>
          </p:cNvCxnSpPr>
          <p:nvPr/>
        </p:nvCxnSpPr>
        <p:spPr>
          <a:xfrm>
            <a:off x="416750" y="7918729"/>
            <a:ext cx="67293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図 21" descr="Station Chief's Tips,&#10;&#10;AI 生成コンテンツは誤りを含む可能性があります。">
            <a:extLst>
              <a:ext uri="{FF2B5EF4-FFF2-40B4-BE49-F238E27FC236}">
                <a16:creationId xmlns:a16="http://schemas.microsoft.com/office/drawing/2014/main" id="{D72FC986-4F92-B8B0-2C0C-FADFBEB6769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8286"/>
          <a:stretch>
            <a:fillRect/>
          </a:stretch>
        </p:blipFill>
        <p:spPr>
          <a:xfrm>
            <a:off x="402387" y="3173998"/>
            <a:ext cx="2512475" cy="990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図 22" descr="A vivid red maple leaf, perfectly depicting the autumn season.&#10;&#10;AI 生成コンテンツは誤りを含む可能性があります。">
            <a:extLst>
              <a:ext uri="{FF2B5EF4-FFF2-40B4-BE49-F238E27FC236}">
                <a16:creationId xmlns:a16="http://schemas.microsoft.com/office/drawing/2014/main" id="{BCC8E1F4-FC27-719E-3BBA-89433341D5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2838" y="2567779"/>
            <a:ext cx="560717" cy="459963"/>
          </a:xfrm>
          <a:prstGeom prst="rect">
            <a:avLst/>
          </a:prstGeom>
        </p:spPr>
      </p:pic>
      <p:pic>
        <p:nvPicPr>
          <p:cNvPr id="26" name="図 25" descr="A vivid red maple leaf, perfectly depicting the autumn season.&#10;&#10;AI 生成コンテンツは誤りを含む可能性があります。">
            <a:extLst>
              <a:ext uri="{FF2B5EF4-FFF2-40B4-BE49-F238E27FC236}">
                <a16:creationId xmlns:a16="http://schemas.microsoft.com/office/drawing/2014/main" id="{C1EB8A3C-29F8-7B99-C1FB-C48883C9F4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4463" y="6456974"/>
            <a:ext cx="560717" cy="459963"/>
          </a:xfrm>
          <a:prstGeom prst="rect">
            <a:avLst/>
          </a:prstGeom>
        </p:spPr>
      </p:pic>
      <p:pic>
        <p:nvPicPr>
          <p:cNvPr id="27" name="図 26" descr="A vivid red maple leaf, perfectly depicting the autumn season.&#10;&#10;AI 生成コンテンツは誤りを含む可能性があります。">
            <a:extLst>
              <a:ext uri="{FF2B5EF4-FFF2-40B4-BE49-F238E27FC236}">
                <a16:creationId xmlns:a16="http://schemas.microsoft.com/office/drawing/2014/main" id="{4F54A55B-54C1-8D2F-278F-50229F9BB8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2137" y="7991735"/>
            <a:ext cx="560717" cy="459963"/>
          </a:xfrm>
          <a:prstGeom prst="rect">
            <a:avLst/>
          </a:prstGeom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AEE9CE91-86FF-EDDB-6779-1A9C0686A442}"/>
              </a:ext>
            </a:extLst>
          </p:cNvPr>
          <p:cNvCxnSpPr>
            <a:cxnSpLocks/>
          </p:cNvCxnSpPr>
          <p:nvPr/>
        </p:nvCxnSpPr>
        <p:spPr>
          <a:xfrm flipH="1" flipV="1">
            <a:off x="2764254" y="3734560"/>
            <a:ext cx="270032" cy="289669"/>
          </a:xfrm>
          <a:prstGeom prst="straightConnector1">
            <a:avLst/>
          </a:prstGeom>
          <a:ln>
            <a:solidFill>
              <a:srgbClr val="06264B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0D2F4E45-7CA2-C81F-6881-4275C092D126}"/>
              </a:ext>
            </a:extLst>
          </p:cNvPr>
          <p:cNvCxnSpPr>
            <a:cxnSpLocks/>
          </p:cNvCxnSpPr>
          <p:nvPr/>
        </p:nvCxnSpPr>
        <p:spPr>
          <a:xfrm flipH="1" flipV="1">
            <a:off x="2764254" y="4032892"/>
            <a:ext cx="284220" cy="608229"/>
          </a:xfrm>
          <a:prstGeom prst="straightConnector1">
            <a:avLst/>
          </a:prstGeom>
          <a:ln>
            <a:solidFill>
              <a:srgbClr val="06264B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D00423CD-D587-936F-89CF-62D0955DD2F4}"/>
              </a:ext>
            </a:extLst>
          </p:cNvPr>
          <p:cNvCxnSpPr>
            <a:cxnSpLocks/>
          </p:cNvCxnSpPr>
          <p:nvPr/>
        </p:nvCxnSpPr>
        <p:spPr>
          <a:xfrm flipH="1" flipV="1">
            <a:off x="2844800" y="5049031"/>
            <a:ext cx="174853" cy="24080"/>
          </a:xfrm>
          <a:prstGeom prst="straightConnector1">
            <a:avLst/>
          </a:prstGeom>
          <a:ln>
            <a:solidFill>
              <a:srgbClr val="06264B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D3EE87A2-FE49-9C54-C917-DBB7B5105A1D}"/>
              </a:ext>
            </a:extLst>
          </p:cNvPr>
          <p:cNvCxnSpPr>
            <a:cxnSpLocks/>
          </p:cNvCxnSpPr>
          <p:nvPr/>
        </p:nvCxnSpPr>
        <p:spPr>
          <a:xfrm flipH="1" flipV="1">
            <a:off x="2815978" y="5594816"/>
            <a:ext cx="222777" cy="38514"/>
          </a:xfrm>
          <a:prstGeom prst="straightConnector1">
            <a:avLst/>
          </a:prstGeom>
          <a:ln>
            <a:solidFill>
              <a:srgbClr val="06264B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DAD9C1A9-0FA3-2E27-3E56-2DAF94FC4318}"/>
              </a:ext>
            </a:extLst>
          </p:cNvPr>
          <p:cNvCxnSpPr>
            <a:cxnSpLocks/>
          </p:cNvCxnSpPr>
          <p:nvPr/>
        </p:nvCxnSpPr>
        <p:spPr>
          <a:xfrm flipH="1">
            <a:off x="2815978" y="5899769"/>
            <a:ext cx="203675" cy="137322"/>
          </a:xfrm>
          <a:prstGeom prst="straightConnector1">
            <a:avLst/>
          </a:prstGeom>
          <a:ln>
            <a:solidFill>
              <a:srgbClr val="06264B"/>
            </a:solidFill>
            <a:prstDash val="sysDot"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6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DB03EF-CD1A-41BC-8544-1480A5AEA61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c54503f-5884-40f3-8c34-dcec0353ce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3512</TotalTime>
  <Words>398</Words>
  <Application>Microsoft Office PowerPoint</Application>
  <PresentationFormat>ユーザー設定</PresentationFormat>
  <Paragraphs>29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 UI</vt:lpstr>
      <vt:lpstr>メイリオ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yasushi takamura</cp:lastModifiedBy>
  <cp:revision>48</cp:revision>
  <dcterms:created xsi:type="dcterms:W3CDTF">2026-08-10T16:56:47Z</dcterms:created>
  <dcterms:modified xsi:type="dcterms:W3CDTF">2026-10-16T03:33:12Z</dcterms:modified>
</cp:coreProperties>
</file>